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76" r:id="rId3"/>
    <p:sldId id="277" r:id="rId4"/>
    <p:sldId id="278" r:id="rId5"/>
    <p:sldId id="257" r:id="rId6"/>
    <p:sldId id="258" r:id="rId7"/>
    <p:sldId id="279" r:id="rId8"/>
    <p:sldId id="261" r:id="rId9"/>
    <p:sldId id="262" r:id="rId10"/>
    <p:sldId id="280" r:id="rId11"/>
    <p:sldId id="281" r:id="rId12"/>
    <p:sldId id="282" r:id="rId13"/>
    <p:sldId id="283" r:id="rId14"/>
    <p:sldId id="284" r:id="rId15"/>
    <p:sldId id="285" r:id="rId16"/>
    <p:sldId id="286" r:id="rId17"/>
    <p:sldId id="287" r:id="rId18"/>
    <p:sldId id="288" r:id="rId19"/>
    <p:sldId id="263" r:id="rId20"/>
    <p:sldId id="265" r:id="rId21"/>
    <p:sldId id="266" r:id="rId22"/>
    <p:sldId id="268" r:id="rId23"/>
    <p:sldId id="290" r:id="rId24"/>
    <p:sldId id="289" r:id="rId25"/>
    <p:sldId id="269" r:id="rId26"/>
    <p:sldId id="270" r:id="rId27"/>
    <p:sldId id="271" r:id="rId28"/>
    <p:sldId id="291"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22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BE0882-50A1-4E9D-A6F8-ACF1C5390222}" type="doc">
      <dgm:prSet loTypeId="urn:microsoft.com/office/officeart/2005/8/layout/arrow2" loCatId="process" qsTypeId="urn:microsoft.com/office/officeart/2005/8/quickstyle/simple1" qsCatId="simple" csTypeId="urn:microsoft.com/office/officeart/2005/8/colors/accent1_2" csCatId="accent1" phldr="1"/>
      <dgm:spPr/>
    </dgm:pt>
    <dgm:pt modelId="{AFBD33E9-E1AC-45DF-9024-FE47414ED5B0}">
      <dgm:prSet phldrT="[Text]"/>
      <dgm:spPr/>
      <dgm:t>
        <a:bodyPr/>
        <a:lstStyle/>
        <a:p>
          <a:r>
            <a:rPr lang="en-US" dirty="0" smtClean="0">
              <a:solidFill>
                <a:schemeClr val="bg2">
                  <a:lumMod val="50000"/>
                </a:schemeClr>
              </a:solidFill>
            </a:rPr>
            <a:t>Strategic Human Resource Planning</a:t>
          </a:r>
          <a:endParaRPr lang="en-US" dirty="0">
            <a:solidFill>
              <a:schemeClr val="bg2">
                <a:lumMod val="50000"/>
              </a:schemeClr>
            </a:solidFill>
          </a:endParaRPr>
        </a:p>
      </dgm:t>
    </dgm:pt>
    <dgm:pt modelId="{BB1714BE-9F3D-4D57-90A4-7F061D52F8DD}" type="parTrans" cxnId="{046A5F2E-89EE-4A0F-AEB5-44461C1A5163}">
      <dgm:prSet/>
      <dgm:spPr/>
      <dgm:t>
        <a:bodyPr/>
        <a:lstStyle/>
        <a:p>
          <a:endParaRPr lang="en-US"/>
        </a:p>
      </dgm:t>
    </dgm:pt>
    <dgm:pt modelId="{141FC00D-8CB8-4F2E-9616-600094933267}" type="sibTrans" cxnId="{046A5F2E-89EE-4A0F-AEB5-44461C1A5163}">
      <dgm:prSet/>
      <dgm:spPr/>
      <dgm:t>
        <a:bodyPr/>
        <a:lstStyle/>
        <a:p>
          <a:endParaRPr lang="en-US"/>
        </a:p>
      </dgm:t>
    </dgm:pt>
    <dgm:pt modelId="{B2FD73D8-5B31-49EC-8B5B-5FAC72D003D9}">
      <dgm:prSet phldrT="[Text]"/>
      <dgm:spPr/>
      <dgm:t>
        <a:bodyPr/>
        <a:lstStyle/>
        <a:p>
          <a:r>
            <a:rPr lang="en-US" dirty="0" smtClean="0">
              <a:solidFill>
                <a:schemeClr val="bg2">
                  <a:lumMod val="50000"/>
                </a:schemeClr>
              </a:solidFill>
            </a:rPr>
            <a:t>Recruitment</a:t>
          </a:r>
          <a:endParaRPr lang="en-US" dirty="0">
            <a:solidFill>
              <a:schemeClr val="bg2">
                <a:lumMod val="50000"/>
              </a:schemeClr>
            </a:solidFill>
          </a:endParaRPr>
        </a:p>
      </dgm:t>
    </dgm:pt>
    <dgm:pt modelId="{EB91E1A1-0D4E-4888-8744-AB16F122BF81}" type="parTrans" cxnId="{E4C26311-7376-4B16-B9CF-D243F49ED0A2}">
      <dgm:prSet/>
      <dgm:spPr/>
      <dgm:t>
        <a:bodyPr/>
        <a:lstStyle/>
        <a:p>
          <a:endParaRPr lang="en-US"/>
        </a:p>
      </dgm:t>
    </dgm:pt>
    <dgm:pt modelId="{656BA79E-2FDD-47F4-812E-871A2D52948A}" type="sibTrans" cxnId="{E4C26311-7376-4B16-B9CF-D243F49ED0A2}">
      <dgm:prSet/>
      <dgm:spPr/>
      <dgm:t>
        <a:bodyPr/>
        <a:lstStyle/>
        <a:p>
          <a:endParaRPr lang="en-US"/>
        </a:p>
      </dgm:t>
    </dgm:pt>
    <dgm:pt modelId="{320267C1-1764-4C1A-9838-571D0FF3F0CA}">
      <dgm:prSet phldrT="[Text]"/>
      <dgm:spPr/>
      <dgm:t>
        <a:bodyPr/>
        <a:lstStyle/>
        <a:p>
          <a:r>
            <a:rPr lang="en-US" dirty="0" smtClean="0">
              <a:solidFill>
                <a:schemeClr val="bg2">
                  <a:lumMod val="50000"/>
                </a:schemeClr>
              </a:solidFill>
            </a:rPr>
            <a:t>Selection</a:t>
          </a:r>
          <a:endParaRPr lang="en-US" dirty="0">
            <a:solidFill>
              <a:schemeClr val="bg2">
                <a:lumMod val="50000"/>
              </a:schemeClr>
            </a:solidFill>
          </a:endParaRPr>
        </a:p>
      </dgm:t>
    </dgm:pt>
    <dgm:pt modelId="{067784E0-4AF8-465C-87B8-F0B5F25B3EE0}" type="parTrans" cxnId="{F6146DBF-D171-40EC-82FF-5793A4CC0F70}">
      <dgm:prSet/>
      <dgm:spPr/>
      <dgm:t>
        <a:bodyPr/>
        <a:lstStyle/>
        <a:p>
          <a:endParaRPr lang="en-US"/>
        </a:p>
      </dgm:t>
    </dgm:pt>
    <dgm:pt modelId="{6E1ABC71-0F1E-472A-9B66-D290B186DDDE}" type="sibTrans" cxnId="{F6146DBF-D171-40EC-82FF-5793A4CC0F70}">
      <dgm:prSet/>
      <dgm:spPr/>
      <dgm:t>
        <a:bodyPr/>
        <a:lstStyle/>
        <a:p>
          <a:endParaRPr lang="en-US"/>
        </a:p>
      </dgm:t>
    </dgm:pt>
    <dgm:pt modelId="{996F806F-C31B-4320-85C3-215704966256}" type="pres">
      <dgm:prSet presAssocID="{A2BE0882-50A1-4E9D-A6F8-ACF1C5390222}" presName="arrowDiagram" presStyleCnt="0">
        <dgm:presLayoutVars>
          <dgm:chMax val="5"/>
          <dgm:dir/>
          <dgm:resizeHandles val="exact"/>
        </dgm:presLayoutVars>
      </dgm:prSet>
      <dgm:spPr/>
    </dgm:pt>
    <dgm:pt modelId="{70DE476A-7B92-4742-941D-B06F5BC3E5F5}" type="pres">
      <dgm:prSet presAssocID="{A2BE0882-50A1-4E9D-A6F8-ACF1C5390222}" presName="arrow" presStyleLbl="bgShp" presStyleIdx="0" presStyleCnt="1"/>
      <dgm:spPr/>
    </dgm:pt>
    <dgm:pt modelId="{25A11B5E-36E5-4C36-98E6-1BBC65B45200}" type="pres">
      <dgm:prSet presAssocID="{A2BE0882-50A1-4E9D-A6F8-ACF1C5390222}" presName="arrowDiagram3" presStyleCnt="0"/>
      <dgm:spPr/>
    </dgm:pt>
    <dgm:pt modelId="{FE165E21-D0C5-42F8-AE5C-C15AB8483405}" type="pres">
      <dgm:prSet presAssocID="{AFBD33E9-E1AC-45DF-9024-FE47414ED5B0}" presName="bullet3a" presStyleLbl="node1" presStyleIdx="0" presStyleCnt="3"/>
      <dgm:spPr/>
    </dgm:pt>
    <dgm:pt modelId="{A52187D2-A9C6-4DBC-B3B5-96B557856721}" type="pres">
      <dgm:prSet presAssocID="{AFBD33E9-E1AC-45DF-9024-FE47414ED5B0}" presName="textBox3a" presStyleLbl="revTx" presStyleIdx="0" presStyleCnt="3">
        <dgm:presLayoutVars>
          <dgm:bulletEnabled val="1"/>
        </dgm:presLayoutVars>
      </dgm:prSet>
      <dgm:spPr/>
      <dgm:t>
        <a:bodyPr/>
        <a:lstStyle/>
        <a:p>
          <a:endParaRPr lang="en-US"/>
        </a:p>
      </dgm:t>
    </dgm:pt>
    <dgm:pt modelId="{282DCC5C-6CD3-4829-966F-48CD80DF37F9}" type="pres">
      <dgm:prSet presAssocID="{B2FD73D8-5B31-49EC-8B5B-5FAC72D003D9}" presName="bullet3b" presStyleLbl="node1" presStyleIdx="1" presStyleCnt="3"/>
      <dgm:spPr/>
    </dgm:pt>
    <dgm:pt modelId="{BE1BF533-F4CC-4658-8B57-66951C2B0967}" type="pres">
      <dgm:prSet presAssocID="{B2FD73D8-5B31-49EC-8B5B-5FAC72D003D9}" presName="textBox3b" presStyleLbl="revTx" presStyleIdx="1" presStyleCnt="3">
        <dgm:presLayoutVars>
          <dgm:bulletEnabled val="1"/>
        </dgm:presLayoutVars>
      </dgm:prSet>
      <dgm:spPr/>
      <dgm:t>
        <a:bodyPr/>
        <a:lstStyle/>
        <a:p>
          <a:endParaRPr lang="en-US"/>
        </a:p>
      </dgm:t>
    </dgm:pt>
    <dgm:pt modelId="{B3DE8805-0AE9-4BDE-A35E-8E4F4316B858}" type="pres">
      <dgm:prSet presAssocID="{320267C1-1764-4C1A-9838-571D0FF3F0CA}" presName="bullet3c" presStyleLbl="node1" presStyleIdx="2" presStyleCnt="3"/>
      <dgm:spPr/>
    </dgm:pt>
    <dgm:pt modelId="{37044C6B-4CC5-45E4-A295-2DFA7708CCA8}" type="pres">
      <dgm:prSet presAssocID="{320267C1-1764-4C1A-9838-571D0FF3F0CA}" presName="textBox3c" presStyleLbl="revTx" presStyleIdx="2" presStyleCnt="3">
        <dgm:presLayoutVars>
          <dgm:bulletEnabled val="1"/>
        </dgm:presLayoutVars>
      </dgm:prSet>
      <dgm:spPr/>
      <dgm:t>
        <a:bodyPr/>
        <a:lstStyle/>
        <a:p>
          <a:endParaRPr lang="en-US"/>
        </a:p>
      </dgm:t>
    </dgm:pt>
  </dgm:ptLst>
  <dgm:cxnLst>
    <dgm:cxn modelId="{F6146DBF-D171-40EC-82FF-5793A4CC0F70}" srcId="{A2BE0882-50A1-4E9D-A6F8-ACF1C5390222}" destId="{320267C1-1764-4C1A-9838-571D0FF3F0CA}" srcOrd="2" destOrd="0" parTransId="{067784E0-4AF8-465C-87B8-F0B5F25B3EE0}" sibTransId="{6E1ABC71-0F1E-472A-9B66-D290B186DDDE}"/>
    <dgm:cxn modelId="{E4C26311-7376-4B16-B9CF-D243F49ED0A2}" srcId="{A2BE0882-50A1-4E9D-A6F8-ACF1C5390222}" destId="{B2FD73D8-5B31-49EC-8B5B-5FAC72D003D9}" srcOrd="1" destOrd="0" parTransId="{EB91E1A1-0D4E-4888-8744-AB16F122BF81}" sibTransId="{656BA79E-2FDD-47F4-812E-871A2D52948A}"/>
    <dgm:cxn modelId="{697F0D28-0BE8-4CA3-9D20-885D7A8B2D3F}" type="presOf" srcId="{320267C1-1764-4C1A-9838-571D0FF3F0CA}" destId="{37044C6B-4CC5-45E4-A295-2DFA7708CCA8}" srcOrd="0" destOrd="0" presId="urn:microsoft.com/office/officeart/2005/8/layout/arrow2"/>
    <dgm:cxn modelId="{90925113-D63F-4D06-A484-ADB1D8F5511F}" type="presOf" srcId="{B2FD73D8-5B31-49EC-8B5B-5FAC72D003D9}" destId="{BE1BF533-F4CC-4658-8B57-66951C2B0967}" srcOrd="0" destOrd="0" presId="urn:microsoft.com/office/officeart/2005/8/layout/arrow2"/>
    <dgm:cxn modelId="{046A5F2E-89EE-4A0F-AEB5-44461C1A5163}" srcId="{A2BE0882-50A1-4E9D-A6F8-ACF1C5390222}" destId="{AFBD33E9-E1AC-45DF-9024-FE47414ED5B0}" srcOrd="0" destOrd="0" parTransId="{BB1714BE-9F3D-4D57-90A4-7F061D52F8DD}" sibTransId="{141FC00D-8CB8-4F2E-9616-600094933267}"/>
    <dgm:cxn modelId="{692D4A4B-630F-459A-AE8C-87CF5F1E7D3B}" type="presOf" srcId="{AFBD33E9-E1AC-45DF-9024-FE47414ED5B0}" destId="{A52187D2-A9C6-4DBC-B3B5-96B557856721}" srcOrd="0" destOrd="0" presId="urn:microsoft.com/office/officeart/2005/8/layout/arrow2"/>
    <dgm:cxn modelId="{CA730884-8DBD-453D-8E51-27AD8F1EEE5C}" type="presOf" srcId="{A2BE0882-50A1-4E9D-A6F8-ACF1C5390222}" destId="{996F806F-C31B-4320-85C3-215704966256}" srcOrd="0" destOrd="0" presId="urn:microsoft.com/office/officeart/2005/8/layout/arrow2"/>
    <dgm:cxn modelId="{4EEB018C-6D7D-4BC7-9C03-1D99EA9E2E16}" type="presParOf" srcId="{996F806F-C31B-4320-85C3-215704966256}" destId="{70DE476A-7B92-4742-941D-B06F5BC3E5F5}" srcOrd="0" destOrd="0" presId="urn:microsoft.com/office/officeart/2005/8/layout/arrow2"/>
    <dgm:cxn modelId="{CCC81370-67D1-4939-AC6F-3FE67DF4181E}" type="presParOf" srcId="{996F806F-C31B-4320-85C3-215704966256}" destId="{25A11B5E-36E5-4C36-98E6-1BBC65B45200}" srcOrd="1" destOrd="0" presId="urn:microsoft.com/office/officeart/2005/8/layout/arrow2"/>
    <dgm:cxn modelId="{A7D832FD-70F7-4842-9539-1C3773232C6C}" type="presParOf" srcId="{25A11B5E-36E5-4C36-98E6-1BBC65B45200}" destId="{FE165E21-D0C5-42F8-AE5C-C15AB8483405}" srcOrd="0" destOrd="0" presId="urn:microsoft.com/office/officeart/2005/8/layout/arrow2"/>
    <dgm:cxn modelId="{D3FB812C-4069-4E69-AD9D-88BE715E9887}" type="presParOf" srcId="{25A11B5E-36E5-4C36-98E6-1BBC65B45200}" destId="{A52187D2-A9C6-4DBC-B3B5-96B557856721}" srcOrd="1" destOrd="0" presId="urn:microsoft.com/office/officeart/2005/8/layout/arrow2"/>
    <dgm:cxn modelId="{CE1A05A4-2EBF-4A2E-8B29-1699C5E11801}" type="presParOf" srcId="{25A11B5E-36E5-4C36-98E6-1BBC65B45200}" destId="{282DCC5C-6CD3-4829-966F-48CD80DF37F9}" srcOrd="2" destOrd="0" presId="urn:microsoft.com/office/officeart/2005/8/layout/arrow2"/>
    <dgm:cxn modelId="{6472E819-F575-4913-B12E-6E930A01127A}" type="presParOf" srcId="{25A11B5E-36E5-4C36-98E6-1BBC65B45200}" destId="{BE1BF533-F4CC-4658-8B57-66951C2B0967}" srcOrd="3" destOrd="0" presId="urn:microsoft.com/office/officeart/2005/8/layout/arrow2"/>
    <dgm:cxn modelId="{1CCF8114-C3DD-474A-AF51-8A67A586168C}" type="presParOf" srcId="{25A11B5E-36E5-4C36-98E6-1BBC65B45200}" destId="{B3DE8805-0AE9-4BDE-A35E-8E4F4316B858}" srcOrd="4" destOrd="0" presId="urn:microsoft.com/office/officeart/2005/8/layout/arrow2"/>
    <dgm:cxn modelId="{EDA6B950-EB43-48D6-A868-14B0A6D4C467}" type="presParOf" srcId="{25A11B5E-36E5-4C36-98E6-1BBC65B45200}" destId="{37044C6B-4CC5-45E4-A295-2DFA7708CCA8}" srcOrd="5" destOrd="0" presId="urn:microsoft.com/office/officeart/2005/8/layout/arrow2"/>
  </dgm:cxnLst>
  <dgm:bg/>
  <dgm:whole/>
</dgm:dataModel>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657466-0C3B-4E8D-9DF6-1C4674713346}" type="datetimeFigureOut">
              <a:rPr lang="en-US" smtClean="0"/>
              <a:pPr/>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1C6D7C-D894-416A-B4C6-B3DA021E3D7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657466-0C3B-4E8D-9DF6-1C4674713346}" type="datetimeFigureOut">
              <a:rPr lang="en-US" smtClean="0"/>
              <a:pPr/>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1C6D7C-D894-416A-B4C6-B3DA021E3D7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657466-0C3B-4E8D-9DF6-1C4674713346}" type="datetimeFigureOut">
              <a:rPr lang="en-US" smtClean="0"/>
              <a:pPr/>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1C6D7C-D894-416A-B4C6-B3DA021E3D7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657466-0C3B-4E8D-9DF6-1C4674713346}" type="datetimeFigureOut">
              <a:rPr lang="en-US" smtClean="0"/>
              <a:pPr/>
              <a:t>11/8/2021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1C6D7C-D894-416A-B4C6-B3DA021E3D7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657466-0C3B-4E8D-9DF6-1C4674713346}" type="datetimeFigureOut">
              <a:rPr lang="en-US" smtClean="0"/>
              <a:pPr/>
              <a:t>11/8/2021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1C6D7C-D894-416A-B4C6-B3DA021E3D7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657466-0C3B-4E8D-9DF6-1C4674713346}" type="datetimeFigureOut">
              <a:rPr lang="en-US" smtClean="0"/>
              <a:pPr/>
              <a:t>11/8/2021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1C6D7C-D894-416A-B4C6-B3DA021E3D7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657466-0C3B-4E8D-9DF6-1C4674713346}" type="datetimeFigureOut">
              <a:rPr lang="en-US" smtClean="0"/>
              <a:pPr/>
              <a:t>11/8/2021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1C6D7C-D894-416A-B4C6-B3DA021E3D7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657466-0C3B-4E8D-9DF6-1C4674713346}" type="datetimeFigureOut">
              <a:rPr lang="en-US" smtClean="0"/>
              <a:pPr/>
              <a:t>11/8/2021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1C6D7C-D894-416A-B4C6-B3DA021E3D7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657466-0C3B-4E8D-9DF6-1C4674713346}" type="datetimeFigureOut">
              <a:rPr lang="en-US" smtClean="0"/>
              <a:pPr/>
              <a:t>11/8/2021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1C6D7C-D894-416A-B4C6-B3DA021E3D7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657466-0C3B-4E8D-9DF6-1C4674713346}" type="datetimeFigureOut">
              <a:rPr lang="en-US" smtClean="0"/>
              <a:pPr/>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1C6D7C-D894-416A-B4C6-B3DA021E3D7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657466-0C3B-4E8D-9DF6-1C4674713346}" type="datetimeFigureOut">
              <a:rPr lang="en-US" smtClean="0"/>
              <a:pPr/>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1C6D7C-D894-416A-B4C6-B3DA021E3D7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657466-0C3B-4E8D-9DF6-1C4674713346}" type="datetimeFigureOut">
              <a:rPr lang="en-US" smtClean="0"/>
              <a:pPr/>
              <a:t>11/8/2021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1C6D7C-D894-416A-B4C6-B3DA021E3D7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04800"/>
            <a:ext cx="8534400" cy="6096000"/>
          </a:xfrm>
        </p:spPr>
        <p:txBody>
          <a:bodyPr>
            <a:noAutofit/>
          </a:bodyPr>
          <a:lstStyle/>
          <a:p>
            <a:pPr algn="l"/>
            <a:r>
              <a:rPr lang="en-US" sz="3600" b="1" dirty="0" smtClean="0">
                <a:latin typeface="Algerian" pitchFamily="82" charset="0"/>
              </a:rPr>
              <a:t>Topic covered</a:t>
            </a:r>
            <a:r>
              <a:rPr lang="en-US" sz="3600" b="1" dirty="0" smtClean="0">
                <a:latin typeface="Algerian" pitchFamily="82" charset="0"/>
              </a:rPr>
              <a:t>:</a:t>
            </a:r>
            <a:br>
              <a:rPr lang="en-US" sz="3600" b="1" dirty="0" smtClean="0">
                <a:latin typeface="Algerian" pitchFamily="82" charset="0"/>
              </a:rPr>
            </a:br>
            <a:r>
              <a:rPr lang="en-US" sz="3600" dirty="0" smtClean="0">
                <a:solidFill>
                  <a:schemeClr val="bg2">
                    <a:lumMod val="75000"/>
                  </a:schemeClr>
                </a:solidFill>
                <a:latin typeface="Algerian" pitchFamily="82" charset="0"/>
              </a:rPr>
              <a:t/>
            </a:r>
            <a:br>
              <a:rPr lang="en-US" sz="3600" dirty="0" smtClean="0">
                <a:solidFill>
                  <a:schemeClr val="bg2">
                    <a:lumMod val="75000"/>
                  </a:schemeClr>
                </a:solidFill>
                <a:latin typeface="Algerian" pitchFamily="82" charset="0"/>
              </a:rPr>
            </a:br>
            <a:r>
              <a:rPr lang="en-US" sz="3600" dirty="0" smtClean="0">
                <a:latin typeface="Algerian" pitchFamily="82" charset="0"/>
              </a:rPr>
              <a:t>1. Project size estimation metrics</a:t>
            </a:r>
            <a:br>
              <a:rPr lang="en-US" sz="3600" dirty="0" smtClean="0">
                <a:latin typeface="Algerian" pitchFamily="82" charset="0"/>
              </a:rPr>
            </a:br>
            <a:r>
              <a:rPr lang="en-US" sz="3600" dirty="0" smtClean="0">
                <a:latin typeface="Algerian" pitchFamily="82" charset="0"/>
              </a:rPr>
              <a:t>2. Project estimation techniques</a:t>
            </a:r>
            <a:br>
              <a:rPr lang="en-US" sz="3600" dirty="0" smtClean="0">
                <a:latin typeface="Algerian" pitchFamily="82" charset="0"/>
              </a:rPr>
            </a:br>
            <a:r>
              <a:rPr lang="en-US" sz="3600" dirty="0" smtClean="0">
                <a:latin typeface="Algerian" pitchFamily="82" charset="0"/>
              </a:rPr>
              <a:t>3. Empirical estimation techniques</a:t>
            </a:r>
            <a:br>
              <a:rPr lang="en-US" sz="3600" dirty="0" smtClean="0">
                <a:latin typeface="Algerian" pitchFamily="82" charset="0"/>
              </a:rPr>
            </a:br>
            <a:r>
              <a:rPr lang="en-US" sz="3600" dirty="0" smtClean="0">
                <a:latin typeface="Algerian" pitchFamily="82" charset="0"/>
              </a:rPr>
              <a:t>4.COCOMO-A Heuristic estimation techniques</a:t>
            </a:r>
            <a:br>
              <a:rPr lang="en-US" sz="3600" dirty="0" smtClean="0">
                <a:latin typeface="Algerian" pitchFamily="82" charset="0"/>
              </a:rPr>
            </a:br>
            <a:r>
              <a:rPr lang="en-US" sz="3600" dirty="0" smtClean="0">
                <a:latin typeface="Algerian" pitchFamily="82" charset="0"/>
              </a:rPr>
              <a:t>5. Staffing level estimation</a:t>
            </a:r>
            <a:br>
              <a:rPr lang="en-US" sz="3600" dirty="0" smtClean="0">
                <a:latin typeface="Algerian" pitchFamily="82" charset="0"/>
              </a:rPr>
            </a:br>
            <a:r>
              <a:rPr lang="en-US" sz="3600" dirty="0" smtClean="0">
                <a:latin typeface="Algerian" pitchFamily="82" charset="0"/>
              </a:rPr>
              <a:t>6. team structures</a:t>
            </a:r>
            <a:br>
              <a:rPr lang="en-US" sz="3600" dirty="0" smtClean="0">
                <a:latin typeface="Algerian" pitchFamily="82" charset="0"/>
              </a:rPr>
            </a:br>
            <a:r>
              <a:rPr lang="en-US" sz="3600" dirty="0" smtClean="0">
                <a:latin typeface="Algerian" pitchFamily="82" charset="0"/>
              </a:rPr>
              <a:t>7. staffing</a:t>
            </a:r>
            <a:r>
              <a:rPr lang="en-US" sz="3200" dirty="0" smtClean="0">
                <a:solidFill>
                  <a:schemeClr val="bg2">
                    <a:lumMod val="75000"/>
                  </a:schemeClr>
                </a:solidFill>
              </a:rPr>
              <a:t/>
            </a:r>
            <a:br>
              <a:rPr lang="en-US" sz="3200" dirty="0" smtClean="0">
                <a:solidFill>
                  <a:schemeClr val="bg2">
                    <a:lumMod val="75000"/>
                  </a:schemeClr>
                </a:solidFill>
              </a:rPr>
            </a:br>
            <a:r>
              <a:rPr lang="en-US" sz="3200" dirty="0" smtClean="0"/>
              <a:t/>
            </a:r>
            <a:br>
              <a:rPr lang="en-US" sz="3200" dirty="0" smtClean="0"/>
            </a:br>
            <a:endParaRPr 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smtClean="0">
                <a:latin typeface="Algerian" pitchFamily="82" charset="0"/>
              </a:rPr>
              <a:t>Project size estimation metrics</a:t>
            </a:r>
            <a:endParaRPr lang="en-US" dirty="0"/>
          </a:p>
        </p:txBody>
      </p:sp>
      <p:sp>
        <p:nvSpPr>
          <p:cNvPr id="3" name="Content Placeholder 2"/>
          <p:cNvSpPr>
            <a:spLocks noGrp="1"/>
          </p:cNvSpPr>
          <p:nvPr>
            <p:ph idx="1"/>
          </p:nvPr>
        </p:nvSpPr>
        <p:spPr/>
        <p:txBody>
          <a:bodyPr>
            <a:normAutofit lnSpcReduction="10000"/>
          </a:bodyPr>
          <a:lstStyle/>
          <a:p>
            <a:r>
              <a:rPr lang="en-US" i="1" dirty="0" smtClean="0"/>
              <a:t>Project size estimation</a:t>
            </a:r>
            <a:r>
              <a:rPr lang="en-US" dirty="0" smtClean="0"/>
              <a:t> is the most fundamental parameter. If this is estimated accurately then all other parameters like effort, duration, cost, etc can be determined easily.</a:t>
            </a:r>
          </a:p>
          <a:p>
            <a:r>
              <a:rPr lang="en-US" dirty="0" smtClean="0"/>
              <a:t>There are two </a:t>
            </a:r>
            <a:r>
              <a:rPr lang="en-US" i="1" dirty="0" smtClean="0"/>
              <a:t>techniques </a:t>
            </a:r>
            <a:r>
              <a:rPr lang="en-US" dirty="0" smtClean="0"/>
              <a:t>that are used to estimate project size are:</a:t>
            </a:r>
          </a:p>
          <a:p>
            <a:pPr>
              <a:buNone/>
            </a:pPr>
            <a:r>
              <a:rPr lang="en-US" dirty="0" smtClean="0"/>
              <a:t>1. Line of code</a:t>
            </a:r>
          </a:p>
          <a:p>
            <a:pPr>
              <a:buNone/>
            </a:pPr>
            <a:r>
              <a:rPr lang="en-US" dirty="0" smtClean="0"/>
              <a:t>2. Function point</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553200"/>
          </a:xfrm>
        </p:spPr>
        <p:txBody>
          <a:bodyPr>
            <a:normAutofit fontScale="70000" lnSpcReduction="20000"/>
          </a:bodyPr>
          <a:lstStyle/>
          <a:p>
            <a:r>
              <a:rPr lang="en-US" dirty="0" smtClean="0"/>
              <a:t>Lines of code or LOC is the most popular and used metrics to estimate size. LOC determination is simple as well. LOC measures the project size in terms of number of lines of statements or instructions written in the source code. In this count, comments and headers are ignored.</a:t>
            </a:r>
          </a:p>
          <a:p>
            <a:pPr fontAlgn="base">
              <a:buNone/>
            </a:pPr>
            <a:endParaRPr lang="en-US" b="1" u="sng" dirty="0" smtClean="0"/>
          </a:p>
          <a:p>
            <a:pPr fontAlgn="base">
              <a:buNone/>
            </a:pPr>
            <a:r>
              <a:rPr lang="en-US" b="1" u="sng" dirty="0" smtClean="0"/>
              <a:t>Advantages of LOC:</a:t>
            </a:r>
          </a:p>
          <a:p>
            <a:pPr fontAlgn="base">
              <a:buNone/>
            </a:pPr>
            <a:endParaRPr lang="en-US" u="sng" dirty="0" smtClean="0"/>
          </a:p>
          <a:p>
            <a:pPr fontAlgn="base"/>
            <a:r>
              <a:rPr lang="en-US" dirty="0" smtClean="0"/>
              <a:t>Estimating LOC by analyzing the problem specification is difficult. Estimation of accurate LOC is only possible once the complete code has been developed. As project planning needs to be done before the development work begins so this metrics is of little use for project managers.</a:t>
            </a:r>
          </a:p>
          <a:p>
            <a:pPr fontAlgn="base"/>
            <a:r>
              <a:rPr lang="en-US" dirty="0" smtClean="0"/>
              <a:t>Two different source files having same number of lines may not require same effort. The file having complex logic would require more effort than one with simple logic. Based on LOC proper estimation may not be possible.</a:t>
            </a:r>
          </a:p>
          <a:p>
            <a:pPr fontAlgn="base"/>
            <a:r>
              <a:rPr lang="en-US" dirty="0" smtClean="0"/>
              <a:t>LOC is the numerical measurement of problem size. This metrics will vary to a large extent from programmer to programmer. An experienced professional may write same logic in less number of lines than a novice programmer.</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080760"/>
          </a:xfrm>
        </p:spPr>
        <p:txBody>
          <a:bodyPr/>
          <a:lstStyle/>
          <a:p>
            <a:pPr fontAlgn="base"/>
            <a:r>
              <a:rPr lang="en-US" dirty="0" smtClean="0"/>
              <a:t>Function point metrics overcomes many of the shortcomings of LOC.</a:t>
            </a:r>
          </a:p>
          <a:p>
            <a:pPr fontAlgn="base"/>
            <a:r>
              <a:rPr lang="en-US" dirty="0" smtClean="0"/>
              <a:t>Function point metrics proposes that size of the software project is directly dependent on various functionalities it supports. More the features supported the more would be the size.</a:t>
            </a:r>
          </a:p>
          <a:p>
            <a:pPr fontAlgn="base"/>
            <a:r>
              <a:rPr lang="en-US" dirty="0" smtClean="0"/>
              <a:t>This technique helps determine size of the project directly from the problem specification so is really helpful to project managers during project planning while determining size.</a:t>
            </a:r>
          </a:p>
          <a:p>
            <a:pPr>
              <a:buNone/>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Algerian" pitchFamily="82" charset="0"/>
              </a:rPr>
              <a:t>Project estimation technique</a:t>
            </a:r>
            <a:endParaRPr lang="en-US" dirty="0">
              <a:latin typeface="Algerian" pitchFamily="82" charset="0"/>
            </a:endParaRPr>
          </a:p>
        </p:txBody>
      </p:sp>
      <p:sp>
        <p:nvSpPr>
          <p:cNvPr id="3" name="Content Placeholder 2"/>
          <p:cNvSpPr>
            <a:spLocks noGrp="1"/>
          </p:cNvSpPr>
          <p:nvPr>
            <p:ph idx="1"/>
          </p:nvPr>
        </p:nvSpPr>
        <p:spPr/>
        <p:txBody>
          <a:bodyPr/>
          <a:lstStyle/>
          <a:p>
            <a:pPr fontAlgn="base"/>
            <a:r>
              <a:rPr lang="en-US" i="1" dirty="0" smtClean="0"/>
              <a:t>Software Project parameters</a:t>
            </a:r>
            <a:r>
              <a:rPr lang="en-US" dirty="0" smtClean="0"/>
              <a:t> can be estimated using:</a:t>
            </a:r>
          </a:p>
          <a:p>
            <a:pPr fontAlgn="base"/>
            <a:r>
              <a:rPr lang="en-US" dirty="0" smtClean="0"/>
              <a:t>Empirical estimation techniques</a:t>
            </a:r>
          </a:p>
          <a:p>
            <a:pPr fontAlgn="base"/>
            <a:r>
              <a:rPr lang="en-US" dirty="0" smtClean="0"/>
              <a:t>Heuristic estimation techniques</a:t>
            </a:r>
          </a:p>
          <a:p>
            <a:pPr fontAlgn="base"/>
            <a:r>
              <a:rPr lang="en-US" dirty="0" smtClean="0"/>
              <a:t>Analytical estimation techniques</a:t>
            </a:r>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Autofit/>
          </a:bodyPr>
          <a:lstStyle/>
          <a:p>
            <a:r>
              <a:rPr lang="en-US" sz="4400" dirty="0" smtClean="0">
                <a:latin typeface="Algerian" pitchFamily="82" charset="0"/>
              </a:rPr>
              <a:t>Empirical estimation techniques</a:t>
            </a:r>
            <a:r>
              <a:rPr lang="en-US" sz="4400" b="0" dirty="0" smtClean="0">
                <a:latin typeface="Algerian" pitchFamily="82" charset="0"/>
              </a:rPr>
              <a:t/>
            </a:r>
            <a:br>
              <a:rPr lang="en-US" sz="4400" b="0" dirty="0" smtClean="0">
                <a:latin typeface="Algerian" pitchFamily="82" charset="0"/>
              </a:rPr>
            </a:br>
            <a:endParaRPr lang="en-US" sz="4400" dirty="0">
              <a:latin typeface="Algerian" pitchFamily="82" charset="0"/>
            </a:endParaRPr>
          </a:p>
        </p:txBody>
      </p:sp>
      <p:sp>
        <p:nvSpPr>
          <p:cNvPr id="3" name="Content Placeholder 2"/>
          <p:cNvSpPr>
            <a:spLocks noGrp="1"/>
          </p:cNvSpPr>
          <p:nvPr>
            <p:ph idx="1"/>
          </p:nvPr>
        </p:nvSpPr>
        <p:spPr/>
        <p:txBody>
          <a:bodyPr>
            <a:normAutofit fontScale="77500" lnSpcReduction="20000"/>
          </a:bodyPr>
          <a:lstStyle/>
          <a:p>
            <a:pPr fontAlgn="base"/>
            <a:r>
              <a:rPr lang="en-US" i="1" dirty="0" smtClean="0"/>
              <a:t>Empirical estimation techniques</a:t>
            </a:r>
            <a:r>
              <a:rPr lang="en-US" dirty="0" smtClean="0"/>
              <a:t> is done on the basis of educated guess of the project parameters.</a:t>
            </a:r>
          </a:p>
          <a:p>
            <a:pPr fontAlgn="base"/>
            <a:r>
              <a:rPr lang="en-US" dirty="0" smtClean="0"/>
              <a:t>This technique becomes more helpful of the estimator has already had experience doing similar project in past. </a:t>
            </a:r>
          </a:p>
          <a:p>
            <a:pPr fontAlgn="base"/>
            <a:r>
              <a:rPr lang="en-US" dirty="0" smtClean="0"/>
              <a:t>Therefore making suitable educated guess, having prior experience and common sense is good element for this technique. </a:t>
            </a:r>
          </a:p>
          <a:p>
            <a:pPr fontAlgn="base"/>
            <a:r>
              <a:rPr lang="en-US" dirty="0" smtClean="0"/>
              <a:t> </a:t>
            </a:r>
          </a:p>
          <a:p>
            <a:pPr fontAlgn="base"/>
            <a:r>
              <a:rPr lang="en-US" dirty="0" smtClean="0"/>
              <a:t>Popularly used </a:t>
            </a:r>
            <a:r>
              <a:rPr lang="en-US" dirty="0" err="1" smtClean="0"/>
              <a:t>empircal</a:t>
            </a:r>
            <a:r>
              <a:rPr lang="en-US" dirty="0" smtClean="0"/>
              <a:t> project estimation techniques are:</a:t>
            </a:r>
          </a:p>
          <a:p>
            <a:pPr fontAlgn="base"/>
            <a:r>
              <a:rPr lang="en-US" dirty="0" smtClean="0"/>
              <a:t>Expert </a:t>
            </a:r>
            <a:r>
              <a:rPr lang="en-US" dirty="0" err="1" smtClean="0"/>
              <a:t>judgement</a:t>
            </a:r>
            <a:r>
              <a:rPr lang="en-US" dirty="0" smtClean="0"/>
              <a:t> technique</a:t>
            </a:r>
          </a:p>
          <a:p>
            <a:pPr fontAlgn="base"/>
            <a:r>
              <a:rPr lang="en-US" dirty="0" smtClean="0"/>
              <a:t>Delphi estimation techniques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rmAutofit fontScale="92500" lnSpcReduction="10000"/>
          </a:bodyPr>
          <a:lstStyle/>
          <a:p>
            <a:pPr fontAlgn="base"/>
            <a:r>
              <a:rPr lang="en-US" i="1" dirty="0" smtClean="0"/>
              <a:t>Heuristic estimation techniques</a:t>
            </a:r>
            <a:r>
              <a:rPr lang="en-US" dirty="0" smtClean="0"/>
              <a:t> works on assumption that the relationships among various project parameters can be represented in the form suitable mathematical expressions.</a:t>
            </a:r>
          </a:p>
          <a:p>
            <a:pPr fontAlgn="base"/>
            <a:r>
              <a:rPr lang="en-US" dirty="0" smtClean="0"/>
              <a:t>Once the basic parameters are known, the other parameters can be determined by substituting value of basic parameter in mathematical expression.</a:t>
            </a:r>
          </a:p>
          <a:p>
            <a:pPr fontAlgn="base"/>
            <a:r>
              <a:rPr lang="en-US" dirty="0" smtClean="0"/>
              <a:t>It can be widely divided into two classes</a:t>
            </a:r>
          </a:p>
          <a:p>
            <a:pPr fontAlgn="base">
              <a:buNone/>
            </a:pPr>
            <a:r>
              <a:rPr lang="en-US" dirty="0" smtClean="0"/>
              <a:t>1. Single variable model</a:t>
            </a:r>
          </a:p>
          <a:p>
            <a:pPr fontAlgn="base">
              <a:buNone/>
            </a:pPr>
            <a:r>
              <a:rPr lang="en-US" dirty="0" smtClean="0"/>
              <a:t>2. Multivariable model</a:t>
            </a:r>
          </a:p>
          <a:p>
            <a:pPr fontAlgn="base">
              <a:buNone/>
            </a:pPr>
            <a:r>
              <a:rPr lang="en-US" dirty="0" smtClean="0"/>
              <a:t>Popularly used heuristic estimation techniques are:</a:t>
            </a:r>
          </a:p>
          <a:p>
            <a:pPr fontAlgn="base">
              <a:buNone/>
            </a:pPr>
            <a:r>
              <a:rPr lang="en-US" dirty="0" smtClean="0"/>
              <a:t>COCOMO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smtClean="0">
                <a:latin typeface="Algerian" pitchFamily="82" charset="0"/>
              </a:rPr>
              <a:t>COCOMO-A Heuristic estimation techniques</a:t>
            </a:r>
            <a:endParaRPr lang="en-US" dirty="0"/>
          </a:p>
        </p:txBody>
      </p:sp>
      <p:sp>
        <p:nvSpPr>
          <p:cNvPr id="3" name="Content Placeholder 2"/>
          <p:cNvSpPr>
            <a:spLocks noGrp="1"/>
          </p:cNvSpPr>
          <p:nvPr>
            <p:ph idx="1"/>
          </p:nvPr>
        </p:nvSpPr>
        <p:spPr/>
        <p:txBody>
          <a:bodyPr>
            <a:normAutofit fontScale="85000" lnSpcReduction="10000"/>
          </a:bodyPr>
          <a:lstStyle/>
          <a:p>
            <a:pPr fontAlgn="base"/>
            <a:r>
              <a:rPr lang="en-US" b="1" i="1" dirty="0" smtClean="0"/>
              <a:t>COCOMO model</a:t>
            </a:r>
            <a:r>
              <a:rPr lang="en-US" dirty="0" smtClean="0"/>
              <a:t> was proposed by </a:t>
            </a:r>
            <a:r>
              <a:rPr lang="en-US" b="1" i="1" dirty="0" smtClean="0"/>
              <a:t>Boehm</a:t>
            </a:r>
            <a:r>
              <a:rPr lang="en-US" dirty="0" smtClean="0"/>
              <a:t> in 1981. COCOMO is a </a:t>
            </a:r>
            <a:r>
              <a:rPr lang="en-US" i="1" dirty="0" smtClean="0"/>
              <a:t>heuristic cost estimation technique</a:t>
            </a:r>
            <a:r>
              <a:rPr lang="en-US" dirty="0" smtClean="0"/>
              <a:t>.</a:t>
            </a:r>
          </a:p>
          <a:p>
            <a:pPr fontAlgn="base"/>
            <a:r>
              <a:rPr lang="en-US" i="1" dirty="0" smtClean="0"/>
              <a:t>Full form of COCOMO</a:t>
            </a:r>
            <a:r>
              <a:rPr lang="en-US" dirty="0" smtClean="0"/>
              <a:t> is </a:t>
            </a:r>
            <a:r>
              <a:rPr lang="en-US" b="1" dirty="0" err="1" smtClean="0"/>
              <a:t>CO</a:t>
            </a:r>
            <a:r>
              <a:rPr lang="en-US" dirty="0" err="1" smtClean="0"/>
              <a:t>nstructive</a:t>
            </a:r>
            <a:r>
              <a:rPr lang="en-US" dirty="0" smtClean="0"/>
              <a:t> </a:t>
            </a:r>
            <a:r>
              <a:rPr lang="en-US" b="1" dirty="0" err="1" smtClean="0"/>
              <a:t>CO</a:t>
            </a:r>
            <a:r>
              <a:rPr lang="en-US" dirty="0" err="1" smtClean="0"/>
              <a:t>st</a:t>
            </a:r>
            <a:r>
              <a:rPr lang="en-US" dirty="0" smtClean="0"/>
              <a:t> estimation </a:t>
            </a:r>
            <a:r>
              <a:rPr lang="en-US" b="1" dirty="0" smtClean="0"/>
              <a:t>Mo</a:t>
            </a:r>
            <a:r>
              <a:rPr lang="en-US" dirty="0" smtClean="0"/>
              <a:t>del. </a:t>
            </a:r>
          </a:p>
          <a:p>
            <a:pPr fontAlgn="base"/>
            <a:r>
              <a:rPr lang="en-US" dirty="0" smtClean="0"/>
              <a:t>According to Boehm, software development project can be classified into any one of the following based on development complexity:</a:t>
            </a:r>
          </a:p>
          <a:p>
            <a:pPr fontAlgn="base">
              <a:buNone/>
            </a:pPr>
            <a:r>
              <a:rPr lang="en-US" dirty="0" smtClean="0"/>
              <a:t>1. Organic</a:t>
            </a:r>
          </a:p>
          <a:p>
            <a:pPr fontAlgn="base">
              <a:buNone/>
            </a:pPr>
            <a:r>
              <a:rPr lang="en-US" dirty="0" smtClean="0"/>
              <a:t>2. Semidetached</a:t>
            </a:r>
          </a:p>
          <a:p>
            <a:pPr fontAlgn="base">
              <a:buNone/>
            </a:pPr>
            <a:r>
              <a:rPr lang="en-US" dirty="0" smtClean="0"/>
              <a:t>3. Embedded</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Organic</a:t>
            </a:r>
            <a:endParaRPr lang="en-US" dirty="0"/>
          </a:p>
        </p:txBody>
      </p:sp>
      <p:sp>
        <p:nvSpPr>
          <p:cNvPr id="3" name="Content Placeholder 2"/>
          <p:cNvSpPr>
            <a:spLocks noGrp="1"/>
          </p:cNvSpPr>
          <p:nvPr>
            <p:ph idx="1"/>
          </p:nvPr>
        </p:nvSpPr>
        <p:spPr/>
        <p:txBody>
          <a:bodyPr>
            <a:normAutofit lnSpcReduction="10000"/>
          </a:bodyPr>
          <a:lstStyle/>
          <a:p>
            <a:pPr fontAlgn="base"/>
            <a:r>
              <a:rPr lang="en-US" dirty="0" smtClean="0"/>
              <a:t>According to Boehm, a software development project can be considered as </a:t>
            </a:r>
            <a:r>
              <a:rPr lang="en-US" b="1" i="1" dirty="0" smtClean="0"/>
              <a:t>organic type</a:t>
            </a:r>
            <a:r>
              <a:rPr lang="en-US" dirty="0" smtClean="0"/>
              <a:t> if it deals with:</a:t>
            </a:r>
          </a:p>
          <a:p>
            <a:pPr fontAlgn="base"/>
            <a:r>
              <a:rPr lang="en-US" dirty="0" smtClean="0"/>
              <a:t>Team members have experience in developing similar types of projects.</a:t>
            </a:r>
          </a:p>
          <a:p>
            <a:pPr fontAlgn="base"/>
            <a:r>
              <a:rPr lang="en-US" dirty="0" smtClean="0"/>
              <a:t>Size of the development team is reasonably small.</a:t>
            </a:r>
          </a:p>
          <a:p>
            <a:pPr fontAlgn="base"/>
            <a:r>
              <a:rPr lang="en-US" dirty="0" smtClean="0"/>
              <a:t>Developing well understood application program.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Semidetached</a:t>
            </a:r>
            <a:endParaRPr lang="en-US" dirty="0"/>
          </a:p>
        </p:txBody>
      </p:sp>
      <p:sp>
        <p:nvSpPr>
          <p:cNvPr id="3" name="Content Placeholder 2"/>
          <p:cNvSpPr>
            <a:spLocks noGrp="1"/>
          </p:cNvSpPr>
          <p:nvPr>
            <p:ph idx="1"/>
          </p:nvPr>
        </p:nvSpPr>
        <p:spPr/>
        <p:txBody>
          <a:bodyPr>
            <a:normAutofit lnSpcReduction="10000"/>
          </a:bodyPr>
          <a:lstStyle/>
          <a:p>
            <a:pPr fontAlgn="base"/>
            <a:r>
              <a:rPr lang="en-US" dirty="0" smtClean="0"/>
              <a:t>According to Boehm, a software development project can be considered as </a:t>
            </a:r>
            <a:r>
              <a:rPr lang="en-US" b="1" i="1" dirty="0" smtClean="0"/>
              <a:t>semidetached type</a:t>
            </a:r>
            <a:r>
              <a:rPr lang="en-US" dirty="0" smtClean="0"/>
              <a:t> if it deals with:</a:t>
            </a:r>
          </a:p>
          <a:p>
            <a:pPr fontAlgn="base"/>
            <a:r>
              <a:rPr lang="en-US" dirty="0" smtClean="0"/>
              <a:t>Development team has mixture of experienced and inexperienced staff.</a:t>
            </a:r>
          </a:p>
          <a:p>
            <a:pPr fontAlgn="base"/>
            <a:r>
              <a:rPr lang="en-US" dirty="0" smtClean="0"/>
              <a:t>Team members may have some experience on related system but may not have enough idea on certain aspects of software product to be developed.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Embedded</a:t>
            </a:r>
            <a:endParaRPr lang="en-US" dirty="0"/>
          </a:p>
        </p:txBody>
      </p:sp>
      <p:sp>
        <p:nvSpPr>
          <p:cNvPr id="3" name="Content Placeholder 2"/>
          <p:cNvSpPr>
            <a:spLocks noGrp="1"/>
          </p:cNvSpPr>
          <p:nvPr>
            <p:ph idx="1"/>
          </p:nvPr>
        </p:nvSpPr>
        <p:spPr/>
        <p:txBody>
          <a:bodyPr/>
          <a:lstStyle/>
          <a:p>
            <a:pPr fontAlgn="base"/>
            <a:r>
              <a:rPr lang="en-US" dirty="0" smtClean="0"/>
              <a:t>According to Boehm, a software development project can be considered as </a:t>
            </a:r>
            <a:r>
              <a:rPr lang="en-US" b="1" i="1" dirty="0" smtClean="0"/>
              <a:t>embedded type</a:t>
            </a:r>
            <a:r>
              <a:rPr lang="en-US" dirty="0" smtClean="0"/>
              <a:t> if it deals with:</a:t>
            </a:r>
          </a:p>
          <a:p>
            <a:pPr fontAlgn="base"/>
            <a:r>
              <a:rPr lang="en-US" dirty="0" smtClean="0"/>
              <a:t>Software that is developed is strongly coupled to complex hardware or</a:t>
            </a:r>
          </a:p>
          <a:p>
            <a:pPr fontAlgn="base"/>
            <a:r>
              <a:rPr lang="en-US" dirty="0" smtClean="0"/>
              <a:t>If stringent regulations on the operational procedures exists.</a:t>
            </a:r>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080760"/>
          </a:xfrm>
        </p:spPr>
        <p:txBody>
          <a:bodyPr/>
          <a:lstStyle/>
          <a:p>
            <a:pPr fontAlgn="base"/>
            <a:r>
              <a:rPr lang="en-US" dirty="0" smtClean="0"/>
              <a:t>According to Boehm’s idea, software cost estimation should be done through three stages:</a:t>
            </a:r>
          </a:p>
          <a:p>
            <a:pPr fontAlgn="base">
              <a:buNone/>
            </a:pPr>
            <a:r>
              <a:rPr lang="en-US" i="1" dirty="0" smtClean="0"/>
              <a:t>1. Basic COCOMO</a:t>
            </a:r>
            <a:endParaRPr lang="en-US" dirty="0" smtClean="0"/>
          </a:p>
          <a:p>
            <a:pPr fontAlgn="base">
              <a:buNone/>
            </a:pPr>
            <a:r>
              <a:rPr lang="en-US" i="1" dirty="0" smtClean="0"/>
              <a:t>2. Intermediate COCOMO</a:t>
            </a:r>
            <a:endParaRPr lang="en-US" dirty="0" smtClean="0"/>
          </a:p>
          <a:p>
            <a:pPr fontAlgn="base">
              <a:buNone/>
            </a:pPr>
            <a:r>
              <a:rPr lang="en-US" i="1" dirty="0" smtClean="0"/>
              <a:t>3. Complete COCOMO</a:t>
            </a:r>
            <a:endParaRPr lang="en-US" dirty="0" smtClean="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lgerian" pitchFamily="82" charset="0"/>
              </a:rPr>
              <a:t>BASIC </a:t>
            </a:r>
            <a:r>
              <a:rPr lang="en-US" b="1" dirty="0" smtClean="0">
                <a:latin typeface="Algerian" pitchFamily="82" charset="0"/>
              </a:rPr>
              <a:t>COCOMO</a:t>
            </a:r>
            <a:endParaRPr lang="en-US" b="1" dirty="0">
              <a:latin typeface="Algerian" pitchFamily="82" charset="0"/>
            </a:endParaRPr>
          </a:p>
        </p:txBody>
      </p:sp>
      <p:sp>
        <p:nvSpPr>
          <p:cNvPr id="3" name="Content Placeholder 2"/>
          <p:cNvSpPr>
            <a:spLocks noGrp="1"/>
          </p:cNvSpPr>
          <p:nvPr>
            <p:ph idx="1"/>
          </p:nvPr>
        </p:nvSpPr>
        <p:spPr/>
        <p:txBody>
          <a:bodyPr>
            <a:normAutofit fontScale="62500" lnSpcReduction="20000"/>
          </a:bodyPr>
          <a:lstStyle/>
          <a:p>
            <a:pPr algn="just" fontAlgn="base"/>
            <a:r>
              <a:rPr lang="en-US" dirty="0" smtClean="0"/>
              <a:t>Boehm after studying historical data collected from lots of real time project derived an expression.</a:t>
            </a:r>
          </a:p>
          <a:p>
            <a:pPr fontAlgn="base">
              <a:buNone/>
            </a:pPr>
            <a:endParaRPr lang="en-US" dirty="0" smtClean="0"/>
          </a:p>
          <a:p>
            <a:pPr fontAlgn="base">
              <a:buNone/>
            </a:pPr>
            <a:r>
              <a:rPr lang="en-US" dirty="0" smtClean="0"/>
              <a:t>The expression derived by </a:t>
            </a:r>
            <a:r>
              <a:rPr lang="en-US" b="1" dirty="0" smtClean="0"/>
              <a:t>Boehm</a:t>
            </a:r>
            <a:r>
              <a:rPr lang="en-US" dirty="0" smtClean="0"/>
              <a:t> is represented as,</a:t>
            </a:r>
          </a:p>
          <a:p>
            <a:pPr fontAlgn="base">
              <a:buNone/>
            </a:pPr>
            <a:r>
              <a:rPr lang="en-US" b="1" dirty="0" smtClean="0"/>
              <a:t>Effort </a:t>
            </a:r>
            <a:r>
              <a:rPr lang="en-US" dirty="0" smtClean="0"/>
              <a:t>= a</a:t>
            </a:r>
            <a:r>
              <a:rPr lang="en-US" baseline="-25000" dirty="0" smtClean="0"/>
              <a:t>1</a:t>
            </a:r>
            <a:r>
              <a:rPr lang="en-US" dirty="0" smtClean="0"/>
              <a:t> * (KLOC)</a:t>
            </a:r>
            <a:r>
              <a:rPr lang="en-US" baseline="30000" dirty="0" smtClean="0"/>
              <a:t>a2</a:t>
            </a:r>
            <a:r>
              <a:rPr lang="en-US" dirty="0" smtClean="0"/>
              <a:t> PM</a:t>
            </a:r>
          </a:p>
          <a:p>
            <a:pPr fontAlgn="base">
              <a:buNone/>
            </a:pPr>
            <a:r>
              <a:rPr lang="en-US" b="1" dirty="0" err="1" smtClean="0"/>
              <a:t>Time</a:t>
            </a:r>
            <a:r>
              <a:rPr lang="en-US" b="1" baseline="-25000" dirty="0" err="1" smtClean="0"/>
              <a:t>dev</a:t>
            </a:r>
            <a:r>
              <a:rPr lang="en-US" dirty="0" smtClean="0"/>
              <a:t> = b</a:t>
            </a:r>
            <a:r>
              <a:rPr lang="en-US" baseline="-25000" dirty="0" smtClean="0"/>
              <a:t>1</a:t>
            </a:r>
            <a:r>
              <a:rPr lang="en-US" dirty="0" smtClean="0"/>
              <a:t> * (Effort)</a:t>
            </a:r>
            <a:r>
              <a:rPr lang="en-US" baseline="30000" dirty="0" smtClean="0"/>
              <a:t>b2</a:t>
            </a:r>
            <a:r>
              <a:rPr lang="en-US" dirty="0" smtClean="0"/>
              <a:t> Months </a:t>
            </a:r>
          </a:p>
          <a:p>
            <a:pPr fontAlgn="base">
              <a:buNone/>
            </a:pPr>
            <a:endParaRPr lang="en-US" dirty="0" smtClean="0"/>
          </a:p>
          <a:p>
            <a:pPr fontAlgn="base">
              <a:buNone/>
            </a:pPr>
            <a:r>
              <a:rPr lang="en-US" dirty="0" smtClean="0"/>
              <a:t>Here,</a:t>
            </a:r>
          </a:p>
          <a:p>
            <a:pPr fontAlgn="base">
              <a:buNone/>
            </a:pPr>
            <a:r>
              <a:rPr lang="en-US" b="1" dirty="0" smtClean="0"/>
              <a:t>KLOC</a:t>
            </a:r>
            <a:r>
              <a:rPr lang="en-US" dirty="0" smtClean="0"/>
              <a:t> – Estimated </a:t>
            </a:r>
            <a:r>
              <a:rPr lang="en-US" b="1" dirty="0" smtClean="0"/>
              <a:t>size of software product</a:t>
            </a:r>
            <a:r>
              <a:rPr lang="en-US" dirty="0" smtClean="0"/>
              <a:t> expressed in terms of Kilo Lines Of Code</a:t>
            </a:r>
          </a:p>
          <a:p>
            <a:pPr fontAlgn="base">
              <a:buNone/>
            </a:pPr>
            <a:r>
              <a:rPr lang="en-US" b="1" dirty="0" err="1" smtClean="0"/>
              <a:t>Time</a:t>
            </a:r>
            <a:r>
              <a:rPr lang="en-US" b="1" baseline="-25000" dirty="0" err="1" smtClean="0"/>
              <a:t>dev</a:t>
            </a:r>
            <a:r>
              <a:rPr lang="en-US" dirty="0" smtClean="0"/>
              <a:t> – Estimated </a:t>
            </a:r>
            <a:r>
              <a:rPr lang="en-US" b="1" dirty="0" smtClean="0"/>
              <a:t>time in months</a:t>
            </a:r>
            <a:r>
              <a:rPr lang="en-US" dirty="0" smtClean="0"/>
              <a:t> required to develop the software product</a:t>
            </a:r>
          </a:p>
          <a:p>
            <a:pPr algn="just" fontAlgn="base">
              <a:buNone/>
            </a:pPr>
            <a:r>
              <a:rPr lang="en-US" b="1" dirty="0" smtClean="0"/>
              <a:t>Effort</a:t>
            </a:r>
            <a:r>
              <a:rPr lang="en-US" dirty="0" smtClean="0"/>
              <a:t> – It represents the total effort required in terms of PM (Person Months)to develop the software.</a:t>
            </a:r>
          </a:p>
          <a:p>
            <a:pPr algn="just" fontAlgn="base">
              <a:buNone/>
            </a:pPr>
            <a:r>
              <a:rPr lang="en-US" b="1" dirty="0" smtClean="0"/>
              <a:t>a</a:t>
            </a:r>
            <a:r>
              <a:rPr lang="en-US" b="1" baseline="-25000" dirty="0" smtClean="0"/>
              <a:t>1, </a:t>
            </a:r>
            <a:r>
              <a:rPr lang="en-US" b="1" dirty="0" smtClean="0"/>
              <a:t>a2, b</a:t>
            </a:r>
            <a:r>
              <a:rPr lang="en-US" b="1" baseline="-25000" dirty="0" smtClean="0"/>
              <a:t>1</a:t>
            </a:r>
            <a:r>
              <a:rPr lang="en-US" b="1" dirty="0" smtClean="0"/>
              <a:t>,b2</a:t>
            </a:r>
            <a:r>
              <a:rPr lang="en-US" dirty="0" smtClean="0"/>
              <a:t> are </a:t>
            </a:r>
            <a:r>
              <a:rPr lang="en-US" b="1" dirty="0" smtClean="0"/>
              <a:t>constants</a:t>
            </a:r>
            <a:r>
              <a:rPr lang="en-US" dirty="0" smtClean="0"/>
              <a:t> for each category of software products.</a:t>
            </a:r>
          </a:p>
          <a:p>
            <a:pPr algn="just" fontAlgn="base">
              <a:buNone/>
            </a:pPr>
            <a:r>
              <a:rPr lang="en-US" dirty="0" smtClean="0"/>
              <a:t>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Effort Estimation</a:t>
            </a:r>
            <a:endParaRPr lang="en-US" dirty="0"/>
          </a:p>
        </p:txBody>
      </p:sp>
      <p:sp>
        <p:nvSpPr>
          <p:cNvPr id="3" name="Content Placeholder 2"/>
          <p:cNvSpPr>
            <a:spLocks noGrp="1"/>
          </p:cNvSpPr>
          <p:nvPr>
            <p:ph idx="1"/>
          </p:nvPr>
        </p:nvSpPr>
        <p:spPr/>
        <p:txBody>
          <a:bodyPr>
            <a:normAutofit fontScale="92500" lnSpcReduction="10000"/>
          </a:bodyPr>
          <a:lstStyle/>
          <a:p>
            <a:pPr fontAlgn="base"/>
            <a:r>
              <a:rPr lang="en-US" dirty="0" smtClean="0"/>
              <a:t>Estimated effort required for different types of software products can be calculated based on below </a:t>
            </a:r>
            <a:r>
              <a:rPr lang="en-US" i="1" dirty="0" smtClean="0"/>
              <a:t>basic </a:t>
            </a:r>
            <a:r>
              <a:rPr lang="en-US" i="1" dirty="0" err="1" smtClean="0"/>
              <a:t>cocomo</a:t>
            </a:r>
            <a:r>
              <a:rPr lang="en-US" i="1" dirty="0" smtClean="0"/>
              <a:t> model formula derived by Boehm</a:t>
            </a:r>
            <a:r>
              <a:rPr lang="en-US" dirty="0" smtClean="0"/>
              <a:t>,</a:t>
            </a:r>
          </a:p>
          <a:p>
            <a:pPr fontAlgn="base"/>
            <a:r>
              <a:rPr lang="en-US" u="sng" dirty="0" smtClean="0"/>
              <a:t>Effort for Organic type project</a:t>
            </a:r>
            <a:r>
              <a:rPr lang="en-US" dirty="0" smtClean="0"/>
              <a:t> = 2.4*(KLOC)</a:t>
            </a:r>
            <a:r>
              <a:rPr lang="en-US" baseline="30000" dirty="0" smtClean="0"/>
              <a:t>1.05</a:t>
            </a:r>
            <a:r>
              <a:rPr lang="en-US" dirty="0" smtClean="0"/>
              <a:t> PM</a:t>
            </a:r>
          </a:p>
          <a:p>
            <a:pPr fontAlgn="base"/>
            <a:r>
              <a:rPr lang="en-US" u="sng" dirty="0" smtClean="0"/>
              <a:t>Effort for Semidetached type project</a:t>
            </a:r>
            <a:r>
              <a:rPr lang="en-US" dirty="0" smtClean="0"/>
              <a:t> = 3.0*(KLOC)</a:t>
            </a:r>
            <a:r>
              <a:rPr lang="en-US" baseline="30000" dirty="0" smtClean="0"/>
              <a:t>1.12</a:t>
            </a:r>
            <a:r>
              <a:rPr lang="en-US" dirty="0" smtClean="0"/>
              <a:t> PM</a:t>
            </a:r>
          </a:p>
          <a:p>
            <a:pPr fontAlgn="base"/>
            <a:r>
              <a:rPr lang="en-US" u="sng" dirty="0" smtClean="0"/>
              <a:t>Effort for Embedded type project</a:t>
            </a:r>
            <a:r>
              <a:rPr lang="en-US" dirty="0" smtClean="0"/>
              <a:t> = 3.6*(KLOC)</a:t>
            </a:r>
            <a:r>
              <a:rPr lang="en-US" baseline="30000" dirty="0" smtClean="0"/>
              <a:t>1.20</a:t>
            </a:r>
            <a:r>
              <a:rPr lang="en-US" dirty="0" smtClean="0"/>
              <a:t> PM</a:t>
            </a:r>
          </a:p>
          <a:p>
            <a:pPr fontAlgn="base">
              <a:buNone/>
            </a:pPr>
            <a:endParaRPr lang="en-US"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US" dirty="0" smtClean="0"/>
              <a:t>Time Estimation</a:t>
            </a:r>
            <a:endParaRPr lang="en-US" dirty="0"/>
          </a:p>
        </p:txBody>
      </p:sp>
      <p:sp>
        <p:nvSpPr>
          <p:cNvPr id="3" name="Content Placeholder 2"/>
          <p:cNvSpPr>
            <a:spLocks noGrp="1"/>
          </p:cNvSpPr>
          <p:nvPr>
            <p:ph idx="1"/>
          </p:nvPr>
        </p:nvSpPr>
        <p:spPr>
          <a:xfrm>
            <a:off x="457200" y="1066800"/>
            <a:ext cx="8229600" cy="5059363"/>
          </a:xfrm>
        </p:spPr>
        <p:txBody>
          <a:bodyPr>
            <a:normAutofit lnSpcReduction="10000"/>
          </a:bodyPr>
          <a:lstStyle/>
          <a:p>
            <a:pPr algn="just" fontAlgn="base"/>
            <a:r>
              <a:rPr lang="en-US" b="1" dirty="0" smtClean="0"/>
              <a:t>Development time required for different types of software products can be calculated based on below </a:t>
            </a:r>
            <a:r>
              <a:rPr lang="en-US" b="1" i="1" dirty="0" smtClean="0"/>
              <a:t>basic </a:t>
            </a:r>
            <a:r>
              <a:rPr lang="en-US" b="1" i="1" dirty="0" smtClean="0"/>
              <a:t>COCOMO </a:t>
            </a:r>
            <a:r>
              <a:rPr lang="en-US" b="1" i="1" dirty="0" smtClean="0"/>
              <a:t>model formula derived by </a:t>
            </a:r>
            <a:r>
              <a:rPr lang="en-US" b="1" i="1" dirty="0" smtClean="0"/>
              <a:t>Boehm</a:t>
            </a:r>
            <a:endParaRPr lang="en-US" b="1" dirty="0" smtClean="0"/>
          </a:p>
          <a:p>
            <a:pPr fontAlgn="base">
              <a:buNone/>
            </a:pPr>
            <a:r>
              <a:rPr lang="en-US" u="sng" dirty="0" smtClean="0"/>
              <a:t>Time for Organic type project development</a:t>
            </a:r>
            <a:r>
              <a:rPr lang="en-US" dirty="0" smtClean="0"/>
              <a:t> = 2.5*(KLOC)</a:t>
            </a:r>
            <a:r>
              <a:rPr lang="en-US" baseline="30000" dirty="0" smtClean="0"/>
              <a:t>0.38</a:t>
            </a:r>
            <a:r>
              <a:rPr lang="en-US" dirty="0" smtClean="0"/>
              <a:t> Months</a:t>
            </a:r>
          </a:p>
          <a:p>
            <a:pPr fontAlgn="base">
              <a:buNone/>
            </a:pPr>
            <a:r>
              <a:rPr lang="en-US" u="sng" dirty="0" smtClean="0"/>
              <a:t>Time for Semidetached type project development</a:t>
            </a:r>
            <a:r>
              <a:rPr lang="en-US" dirty="0" smtClean="0"/>
              <a:t> = 2.5*(KLOC)</a:t>
            </a:r>
            <a:r>
              <a:rPr lang="en-US" baseline="30000" dirty="0" smtClean="0"/>
              <a:t>0.35</a:t>
            </a:r>
            <a:r>
              <a:rPr lang="en-US" dirty="0" smtClean="0"/>
              <a:t> Months</a:t>
            </a:r>
          </a:p>
          <a:p>
            <a:pPr fontAlgn="base">
              <a:buNone/>
            </a:pPr>
            <a:r>
              <a:rPr lang="en-US" u="sng" dirty="0" smtClean="0"/>
              <a:t>Time for Embedded type project development</a:t>
            </a:r>
            <a:r>
              <a:rPr lang="en-US" dirty="0" smtClean="0"/>
              <a:t> = 2.5*(KLOC)</a:t>
            </a:r>
            <a:r>
              <a:rPr lang="en-US" baseline="30000" dirty="0" smtClean="0"/>
              <a:t>0.32</a:t>
            </a:r>
            <a:r>
              <a:rPr lang="en-US" dirty="0" smtClean="0"/>
              <a:t> Months</a:t>
            </a:r>
          </a:p>
          <a:p>
            <a:pPr fontAlgn="base">
              <a:buNone/>
            </a:pPr>
            <a:endParaRPr lang="en-US"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lgerian" pitchFamily="82" charset="0"/>
              </a:rPr>
              <a:t>Intermediate COCOMO</a:t>
            </a:r>
            <a:endParaRPr lang="en-US" dirty="0">
              <a:latin typeface="Algerian" pitchFamily="82" charset="0"/>
            </a:endParaRPr>
          </a:p>
        </p:txBody>
      </p:sp>
      <p:sp>
        <p:nvSpPr>
          <p:cNvPr id="3" name="Content Placeholder 2"/>
          <p:cNvSpPr>
            <a:spLocks noGrp="1"/>
          </p:cNvSpPr>
          <p:nvPr>
            <p:ph idx="1"/>
          </p:nvPr>
        </p:nvSpPr>
        <p:spPr/>
        <p:txBody>
          <a:bodyPr>
            <a:normAutofit fontScale="77500" lnSpcReduction="20000"/>
          </a:bodyPr>
          <a:lstStyle/>
          <a:p>
            <a:r>
              <a:rPr lang="en-US" dirty="0" smtClean="0"/>
              <a:t>This model </a:t>
            </a:r>
            <a:r>
              <a:rPr lang="en-US" b="1" dirty="0" smtClean="0"/>
              <a:t>refines the above estimate using 15 multipliers</a:t>
            </a:r>
            <a:r>
              <a:rPr lang="en-US" dirty="0" smtClean="0"/>
              <a:t> that are based on different software development attributes. Complete COCOMO: This model calculates the development time and effort taken as the total of the estimates of all the individual subsystems.</a:t>
            </a:r>
          </a:p>
          <a:p>
            <a:pPr>
              <a:buNone/>
            </a:pPr>
            <a:r>
              <a:rPr lang="en-US" dirty="0" smtClean="0"/>
              <a:t>Effort (E) = a*(KLOC)</a:t>
            </a:r>
            <a:r>
              <a:rPr lang="en-US" baseline="30000" dirty="0" smtClean="0"/>
              <a:t>b </a:t>
            </a:r>
            <a:r>
              <a:rPr lang="en-US" dirty="0" smtClean="0"/>
              <a:t>*EAF  MM</a:t>
            </a:r>
            <a:br>
              <a:rPr lang="en-US" dirty="0" smtClean="0"/>
            </a:br>
            <a:r>
              <a:rPr lang="en-US" dirty="0" smtClean="0"/>
              <a:t>Scheduled Time (D) = c*(E)</a:t>
            </a:r>
            <a:r>
              <a:rPr lang="en-US" baseline="30000" dirty="0" smtClean="0"/>
              <a:t>d </a:t>
            </a:r>
            <a:r>
              <a:rPr lang="en-US" dirty="0" smtClean="0"/>
              <a:t> Months(M) Where,</a:t>
            </a:r>
          </a:p>
          <a:p>
            <a:pPr>
              <a:buNone/>
            </a:pPr>
            <a:r>
              <a:rPr lang="en-US" b="1" dirty="0" smtClean="0"/>
              <a:t>E =</a:t>
            </a:r>
            <a:r>
              <a:rPr lang="en-US" dirty="0" smtClean="0"/>
              <a:t> Total effort required for the project in Man-Months (MM).</a:t>
            </a:r>
          </a:p>
          <a:p>
            <a:pPr>
              <a:buNone/>
            </a:pPr>
            <a:r>
              <a:rPr lang="en-US" b="1" dirty="0" smtClean="0"/>
              <a:t>D =</a:t>
            </a:r>
            <a:r>
              <a:rPr lang="en-US" dirty="0" smtClean="0"/>
              <a:t> Total time required for project development in Months (M).</a:t>
            </a:r>
          </a:p>
          <a:p>
            <a:pPr>
              <a:buNone/>
            </a:pPr>
            <a:r>
              <a:rPr lang="en-US" b="1" dirty="0" smtClean="0"/>
              <a:t>KLOC =</a:t>
            </a:r>
            <a:r>
              <a:rPr lang="en-US" dirty="0" smtClean="0"/>
              <a:t> The size of the code for the project in Kilo lines of code.</a:t>
            </a:r>
          </a:p>
          <a:p>
            <a:pPr>
              <a:buNone/>
            </a:pPr>
            <a:r>
              <a:rPr lang="en-US" b="1" dirty="0" smtClean="0"/>
              <a:t>a, b, c, d =</a:t>
            </a:r>
            <a:r>
              <a:rPr lang="en-US" dirty="0" smtClean="0"/>
              <a:t> The constant parameters for the software project.</a:t>
            </a:r>
          </a:p>
          <a:p>
            <a:pPr>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lgerian" pitchFamily="82" charset="0"/>
              </a:rPr>
              <a:t>Complete COCOMO</a:t>
            </a:r>
            <a:endParaRPr lang="en-US" dirty="0">
              <a:latin typeface="Algerian" pitchFamily="82" charset="0"/>
            </a:endParaRPr>
          </a:p>
        </p:txBody>
      </p:sp>
      <p:sp>
        <p:nvSpPr>
          <p:cNvPr id="3" name="Content Placeholder 2"/>
          <p:cNvSpPr>
            <a:spLocks noGrp="1"/>
          </p:cNvSpPr>
          <p:nvPr>
            <p:ph idx="1"/>
          </p:nvPr>
        </p:nvSpPr>
        <p:spPr/>
        <p:txBody>
          <a:bodyPr/>
          <a:lstStyle/>
          <a:p>
            <a:r>
              <a:rPr lang="en-US" dirty="0" smtClean="0"/>
              <a:t>This model calculates the development time and effort taken as the total of the estimates of all the individual subsystems.</a:t>
            </a:r>
          </a:p>
          <a:p>
            <a:pPr>
              <a:buNone/>
            </a:pPr>
            <a:r>
              <a:rPr lang="en-US" dirty="0" smtClean="0"/>
              <a:t/>
            </a:r>
            <a:br>
              <a:rPr lang="en-US" dirty="0" smtClean="0"/>
            </a:b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Advantage and disadvantage of COCOMO Model</a:t>
            </a:r>
            <a:endParaRPr lang="en-US" b="1"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 Advantage:</a:t>
            </a:r>
          </a:p>
          <a:p>
            <a:pPr algn="just">
              <a:buNone/>
            </a:pPr>
            <a:r>
              <a:rPr lang="en-US" dirty="0" smtClean="0"/>
              <a:t>a) Easy to estimate the total cost of the project.</a:t>
            </a:r>
          </a:p>
          <a:p>
            <a:pPr algn="just">
              <a:buNone/>
            </a:pPr>
            <a:r>
              <a:rPr lang="en-US" dirty="0" smtClean="0"/>
              <a:t>b) Easy to implement with various factors.</a:t>
            </a:r>
          </a:p>
          <a:p>
            <a:pPr algn="just">
              <a:buNone/>
            </a:pPr>
            <a:r>
              <a:rPr lang="en-US" dirty="0" smtClean="0"/>
              <a:t>c) Provide ideas about historical projects.</a:t>
            </a:r>
          </a:p>
          <a:p>
            <a:pPr algn="just">
              <a:buNone/>
            </a:pPr>
            <a:r>
              <a:rPr lang="en-US" dirty="0" smtClean="0"/>
              <a:t># Disadvantage:</a:t>
            </a:r>
          </a:p>
          <a:p>
            <a:pPr algn="just">
              <a:buNone/>
            </a:pPr>
            <a:r>
              <a:rPr lang="en-US" dirty="0" smtClean="0"/>
              <a:t>a) It ignores requirements, customer skills, and hardware issues.</a:t>
            </a:r>
          </a:p>
          <a:p>
            <a:pPr algn="just">
              <a:buNone/>
            </a:pPr>
            <a:r>
              <a:rPr lang="en-US" dirty="0" smtClean="0"/>
              <a:t>b) It limits the accuracy of the software costs.</a:t>
            </a:r>
          </a:p>
          <a:p>
            <a:pPr algn="just">
              <a:buNone/>
            </a:pPr>
            <a:r>
              <a:rPr lang="en-US" dirty="0" smtClean="0"/>
              <a:t>c) It mostly depends on time factors.</a:t>
            </a:r>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sz="4400" dirty="0" smtClean="0">
                <a:latin typeface="Algerian" pitchFamily="82" charset="0"/>
              </a:rPr>
              <a:t>Staffing level estimation</a:t>
            </a:r>
            <a:endParaRPr lang="en-US" dirty="0"/>
          </a:p>
        </p:txBody>
      </p:sp>
      <p:sp>
        <p:nvSpPr>
          <p:cNvPr id="3" name="Content Placeholder 2"/>
          <p:cNvSpPr>
            <a:spLocks noGrp="1"/>
          </p:cNvSpPr>
          <p:nvPr>
            <p:ph idx="1"/>
          </p:nvPr>
        </p:nvSpPr>
        <p:spPr>
          <a:xfrm>
            <a:off x="457200" y="1066800"/>
            <a:ext cx="8229600" cy="5242560"/>
          </a:xfrm>
        </p:spPr>
        <p:txBody>
          <a:bodyPr>
            <a:normAutofit fontScale="92500" lnSpcReduction="20000"/>
          </a:bodyPr>
          <a:lstStyle/>
          <a:p>
            <a:pPr algn="just"/>
            <a:r>
              <a:rPr lang="en-US" dirty="0" smtClean="0"/>
              <a:t> It is necessary to determine the staffing requirement for the project. Putnam first studied the problem of what should be a proper staffing pattern for software projects. He extended the work of </a:t>
            </a:r>
            <a:r>
              <a:rPr lang="en-US" dirty="0" err="1" smtClean="0"/>
              <a:t>Norden</a:t>
            </a:r>
            <a:r>
              <a:rPr lang="en-US" dirty="0" smtClean="0"/>
              <a:t> In order to appreciate the staffing pattern of software projects, </a:t>
            </a:r>
            <a:r>
              <a:rPr lang="en-US" dirty="0" err="1" smtClean="0"/>
              <a:t>Norden’s</a:t>
            </a:r>
            <a:r>
              <a:rPr lang="en-US" dirty="0" smtClean="0"/>
              <a:t> and Putnam’s results must be understood. Staffing level estimation It is necessary to determine the staffing requirement for the project. Putnam first studied the problem of what should be a proper staffing pattern for software projects. He extended the work of </a:t>
            </a:r>
            <a:r>
              <a:rPr lang="en-US" dirty="0" err="1" smtClean="0"/>
              <a:t>Norden</a:t>
            </a:r>
            <a:r>
              <a:rPr lang="en-US" dirty="0" smtClean="0"/>
              <a:t>.</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smtClean="0">
                <a:latin typeface="Algerian" pitchFamily="82" charset="0"/>
              </a:rPr>
              <a:t>team structures</a:t>
            </a:r>
            <a:endParaRPr lang="en-US" dirty="0"/>
          </a:p>
        </p:txBody>
      </p:sp>
      <p:pic>
        <p:nvPicPr>
          <p:cNvPr id="1026" name="Picture 2"/>
          <p:cNvPicPr>
            <a:picLocks noGrp="1" noChangeAspect="1" noChangeArrowheads="1"/>
          </p:cNvPicPr>
          <p:nvPr>
            <p:ph idx="1"/>
          </p:nvPr>
        </p:nvPicPr>
        <p:blipFill>
          <a:blip r:embed="rId2"/>
          <a:stretch>
            <a:fillRect/>
          </a:stretch>
        </p:blipFill>
        <p:spPr bwMode="auto">
          <a:xfrm>
            <a:off x="533401" y="1219200"/>
            <a:ext cx="7848600" cy="53340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lgerian" pitchFamily="82" charset="0"/>
              </a:rPr>
              <a:t>Team Distribution</a:t>
            </a:r>
            <a:endParaRPr lang="en-US" b="1" dirty="0">
              <a:latin typeface="Algerian" pitchFamily="82" charset="0"/>
            </a:endParaRPr>
          </a:p>
        </p:txBody>
      </p:sp>
      <p:pic>
        <p:nvPicPr>
          <p:cNvPr id="2050" name="Picture 2"/>
          <p:cNvPicPr>
            <a:picLocks noGrp="1" noChangeAspect="1" noChangeArrowheads="1"/>
          </p:cNvPicPr>
          <p:nvPr>
            <p:ph idx="1"/>
          </p:nvPr>
        </p:nvPicPr>
        <p:blipFill>
          <a:blip r:embed="rId2"/>
          <a:srcRect/>
          <a:stretch>
            <a:fillRect/>
          </a:stretch>
        </p:blipFill>
        <p:spPr bwMode="auto">
          <a:xfrm>
            <a:off x="304800" y="1600200"/>
            <a:ext cx="8458200" cy="51054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smtClean="0">
                <a:latin typeface="Algerian" pitchFamily="82" charset="0"/>
              </a:rPr>
              <a:t>staffing</a:t>
            </a:r>
            <a:endParaRPr lang="en-US" dirty="0"/>
          </a:p>
        </p:txBody>
      </p:sp>
      <p:sp>
        <p:nvSpPr>
          <p:cNvPr id="5" name="Content Placeholder 4"/>
          <p:cNvSpPr>
            <a:spLocks noGrp="1"/>
          </p:cNvSpPr>
          <p:nvPr>
            <p:ph idx="1"/>
          </p:nvPr>
        </p:nvSpPr>
        <p:spPr/>
        <p:txBody>
          <a:bodyPr/>
          <a:lstStyle/>
          <a:p>
            <a:r>
              <a:rPr lang="en-US" dirty="0" smtClean="0"/>
              <a:t>Staffing is the managerial function of filling and keeping filled position  in the organization structure. This is achieved by first requirement of workspace followed by recruitment , selection, placement, promotion, appraisal and development of personnel to fill the roles designed into the organization.</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lgerian" pitchFamily="82" charset="0"/>
              </a:rPr>
              <a:t>Component of staffing</a:t>
            </a:r>
            <a:endParaRPr lang="en-US" dirty="0">
              <a:latin typeface="Algerian" pitchFamily="82" charset="0"/>
            </a:endParaRP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srcRect/>
          <a:stretch>
            <a:fillRect/>
          </a:stretch>
        </p:blipFill>
        <p:spPr bwMode="auto">
          <a:xfrm>
            <a:off x="0" y="0"/>
            <a:ext cx="9143999" cy="68580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lgerian" pitchFamily="82" charset="0"/>
              </a:rPr>
              <a:t>Staffing Process</a:t>
            </a:r>
            <a:endParaRPr lang="en-US" b="1" dirty="0">
              <a:latin typeface="Algerian" pitchFamily="82" charset="0"/>
            </a:endParaRPr>
          </a:p>
        </p:txBody>
      </p:sp>
      <p:pic>
        <p:nvPicPr>
          <p:cNvPr id="4099" name="Picture 3"/>
          <p:cNvPicPr>
            <a:picLocks noGrp="1" noChangeAspect="1" noChangeArrowheads="1"/>
          </p:cNvPicPr>
          <p:nvPr>
            <p:ph idx="1"/>
          </p:nvPr>
        </p:nvPicPr>
        <p:blipFill>
          <a:blip r:embed="rId2"/>
          <a:srcRect/>
          <a:stretch>
            <a:fillRect/>
          </a:stretch>
        </p:blipFill>
        <p:spPr bwMode="auto">
          <a:xfrm>
            <a:off x="381000" y="1676400"/>
            <a:ext cx="8305799" cy="48768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lgerian" pitchFamily="82" charset="0"/>
              </a:rPr>
              <a:t>Nature of staffing</a:t>
            </a:r>
            <a:endParaRPr lang="en-US" b="1" dirty="0">
              <a:latin typeface="Algerian" pitchFamily="82" charset="0"/>
            </a:endParaRPr>
          </a:p>
        </p:txBody>
      </p:sp>
      <p:sp>
        <p:nvSpPr>
          <p:cNvPr id="3" name="Content Placeholder 2"/>
          <p:cNvSpPr>
            <a:spLocks noGrp="1"/>
          </p:cNvSpPr>
          <p:nvPr>
            <p:ph idx="1"/>
          </p:nvPr>
        </p:nvSpPr>
        <p:spPr/>
        <p:txBody>
          <a:bodyPr/>
          <a:lstStyle/>
          <a:p>
            <a:pPr>
              <a:buNone/>
            </a:pPr>
            <a:r>
              <a:rPr lang="en-US" dirty="0" smtClean="0"/>
              <a:t>* Staffing is an important managerial function.</a:t>
            </a:r>
          </a:p>
          <a:p>
            <a:pPr>
              <a:buFont typeface="Arial" charset="0"/>
              <a:buChar char="•"/>
            </a:pPr>
            <a:r>
              <a:rPr lang="en-US" dirty="0" smtClean="0"/>
              <a:t>Staffing is a pervasive activity.</a:t>
            </a:r>
          </a:p>
          <a:p>
            <a:pPr>
              <a:buFont typeface="Arial" charset="0"/>
              <a:buChar char="•"/>
            </a:pPr>
            <a:r>
              <a:rPr lang="en-US" dirty="0" smtClean="0"/>
              <a:t>Staffing is a </a:t>
            </a:r>
            <a:r>
              <a:rPr lang="en-US" dirty="0" err="1" smtClean="0"/>
              <a:t>continous</a:t>
            </a:r>
            <a:r>
              <a:rPr lang="en-US" dirty="0" smtClean="0"/>
              <a:t> activity</a:t>
            </a:r>
          </a:p>
          <a:p>
            <a:pPr>
              <a:buFont typeface="Arial" charset="0"/>
              <a:buChar char="•"/>
            </a:pPr>
            <a:r>
              <a:rPr lang="en-US" dirty="0" smtClean="0"/>
              <a:t>The basis of staffing function is efficient management of personnel.</a:t>
            </a:r>
          </a:p>
          <a:p>
            <a:pPr>
              <a:buFont typeface="Arial" charset="0"/>
              <a:buChar char="•"/>
            </a:pPr>
            <a:r>
              <a:rPr lang="en-US" dirty="0" smtClean="0"/>
              <a:t>Staffing helps in placing right men at the right job.</a:t>
            </a:r>
          </a:p>
          <a:p>
            <a:pPr>
              <a:buNone/>
            </a:pPr>
            <a:r>
              <a:rPr lang="en-US" dirty="0" smtClean="0"/>
              <a:t>* Staffing is performed by all managers.</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lgerian" pitchFamily="82" charset="0"/>
              </a:rPr>
              <a:t>IMPORTANCE OF STAFFING</a:t>
            </a:r>
            <a:endParaRPr lang="en-US" b="1" dirty="0">
              <a:latin typeface="Algerian" pitchFamily="82" charset="0"/>
            </a:endParaRPr>
          </a:p>
        </p:txBody>
      </p:sp>
      <p:sp>
        <p:nvSpPr>
          <p:cNvPr id="3" name="Content Placeholder 2"/>
          <p:cNvSpPr>
            <a:spLocks noGrp="1"/>
          </p:cNvSpPr>
          <p:nvPr>
            <p:ph idx="1"/>
          </p:nvPr>
        </p:nvSpPr>
        <p:spPr/>
        <p:txBody>
          <a:bodyPr/>
          <a:lstStyle/>
          <a:p>
            <a:pPr>
              <a:buNone/>
            </a:pPr>
            <a:r>
              <a:rPr lang="en-US" dirty="0" smtClean="0"/>
              <a:t># Optimum use of resource.</a:t>
            </a:r>
          </a:p>
          <a:p>
            <a:pPr>
              <a:buNone/>
            </a:pPr>
            <a:endParaRPr lang="en-US" dirty="0" smtClean="0"/>
          </a:p>
          <a:p>
            <a:pPr>
              <a:buNone/>
            </a:pPr>
            <a:r>
              <a:rPr lang="en-US" dirty="0" smtClean="0"/>
              <a:t># Enhances corporate Image.</a:t>
            </a:r>
          </a:p>
          <a:p>
            <a:pPr>
              <a:buNone/>
            </a:pPr>
            <a:endParaRPr lang="en-US" dirty="0" smtClean="0"/>
          </a:p>
          <a:p>
            <a:pPr>
              <a:buNone/>
            </a:pPr>
            <a:r>
              <a:rPr lang="en-US" dirty="0" smtClean="0"/>
              <a:t># Job Satisfaction.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26162"/>
          </a:xfrm>
        </p:spPr>
        <p:txBody>
          <a:bodyPr>
            <a:normAutofit/>
          </a:bodyPr>
          <a:lstStyle/>
          <a:p>
            <a:r>
              <a:rPr lang="en-US" sz="8000" dirty="0" smtClean="0">
                <a:latin typeface="Arial Black" pitchFamily="34" charset="0"/>
              </a:rPr>
              <a:t>Thank you</a:t>
            </a:r>
            <a:endParaRPr lang="en-US" sz="8000" dirty="0">
              <a:latin typeface="Arial Black"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388</TotalTime>
  <Words>644</Words>
  <Application>Microsoft Office PowerPoint</Application>
  <PresentationFormat>On-screen Show (4:3)</PresentationFormat>
  <Paragraphs>127</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Topic covered:  1. Project size estimation metrics 2. Project estimation techniques 3. Empirical estimation techniques 4.COCOMO-A Heuristic estimation techniques 5. Staffing level estimation 6. team structures 7. staffing  </vt:lpstr>
      <vt:lpstr>Project size estimation metrics</vt:lpstr>
      <vt:lpstr>Slide 3</vt:lpstr>
      <vt:lpstr>Slide 4</vt:lpstr>
      <vt:lpstr>Project estimation technique</vt:lpstr>
      <vt:lpstr>Empirical estimation techniques </vt:lpstr>
      <vt:lpstr>Slide 7</vt:lpstr>
      <vt:lpstr>COCOMO-A Heuristic estimation techniques</vt:lpstr>
      <vt:lpstr>Organic</vt:lpstr>
      <vt:lpstr>Semidetached</vt:lpstr>
      <vt:lpstr>Embedded</vt:lpstr>
      <vt:lpstr>Slide 12</vt:lpstr>
      <vt:lpstr>BASIC COCOMO</vt:lpstr>
      <vt:lpstr>Effort Estimation</vt:lpstr>
      <vt:lpstr>Time Estimation</vt:lpstr>
      <vt:lpstr>Intermediate COCOMO</vt:lpstr>
      <vt:lpstr>Complete COCOMO</vt:lpstr>
      <vt:lpstr>Advantage and disadvantage of COCOMO Model</vt:lpstr>
      <vt:lpstr>Staffing level estimation</vt:lpstr>
      <vt:lpstr>team structures</vt:lpstr>
      <vt:lpstr>Team Distribution</vt:lpstr>
      <vt:lpstr>staffing</vt:lpstr>
      <vt:lpstr>Component of staffing</vt:lpstr>
      <vt:lpstr>Slide 24</vt:lpstr>
      <vt:lpstr>Staffing Process</vt:lpstr>
      <vt:lpstr>Nature of staffing</vt:lpstr>
      <vt:lpstr>IMPORTANCE OF STAFFING</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DELL</cp:lastModifiedBy>
  <cp:revision>30</cp:revision>
  <dcterms:created xsi:type="dcterms:W3CDTF">2020-08-11T07:07:33Z</dcterms:created>
  <dcterms:modified xsi:type="dcterms:W3CDTF">2021-11-08T08:27:47Z</dcterms:modified>
</cp:coreProperties>
</file>